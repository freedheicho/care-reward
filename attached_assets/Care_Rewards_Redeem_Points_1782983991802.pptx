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76046-B3C7-5B14-7F44-F3F91BAA2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C57AF-6EFA-9549-BC13-B0A9F807D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85D0B-592F-BAD6-9335-8780D987D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2F23-B264-45FA-AAB1-907FA2B629E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71C48-6193-4F78-B8BD-46111BEA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F57E9-057C-C098-1BC5-B04EF2269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3540-25A4-4172-97A6-7F167D62D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5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C8F89-6F07-B918-6D02-A7B22E70D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54CAA-C27C-3D6F-75D4-69607A541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6C281-16AE-11B1-55E1-76A43AB07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2F23-B264-45FA-AAB1-907FA2B629E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0EF38-840B-1574-5538-673BF0817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8F0CB-2AEF-A00E-204F-188C0178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3540-25A4-4172-97A6-7F167D62D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2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5DFF9-2B93-3FBC-DE1F-A4F0B07AA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9040C-26C6-6EE4-05E3-DC50112FD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07FF2-84AF-B300-70D7-3CAD75DAE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2F23-B264-45FA-AAB1-907FA2B629E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2921-B952-0544-332A-2347D591E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FD5CE-C31B-175E-F239-1526453B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3540-25A4-4172-97A6-7F167D62D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9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8EE6-895C-003F-BDBC-2E553B9E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37DE7-7749-39F6-3861-041D779F8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8AFAB-9A5F-0339-F451-1D0D5D23B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89DB6-9D22-C5F8-5DD2-F6917A73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2F23-B264-45FA-AAB1-907FA2B629E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6B509-C322-61EE-6B35-D8FEF01F3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35CE0-1403-ADE3-1296-9089B466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3540-25A4-4172-97A6-7F167D62D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03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0EF5-1E5D-E7C8-553A-2E778B65F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F0A7B-470E-D699-ED74-0FDB9160D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19E13-0B98-A855-0132-DDD3C3B63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27687-5FFA-984D-3AE1-7C1A1C72AE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14ABE9-DD9E-8CB6-B7FF-9E70042FB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1ACDEE-F96D-7D48-B442-C08ACC2A8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2F23-B264-45FA-AAB1-907FA2B629E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BBC2D7-FC08-EC02-78F8-F8084605C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5D9212-6A97-5488-B1DD-850F55C6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3540-25A4-4172-97A6-7F167D62D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13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87A8-A225-51AE-C0CF-F0999454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3682D1-B1E6-1D36-5BCC-9A8F0C56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2F23-B264-45FA-AAB1-907FA2B629E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5606F-FAD9-51AE-5FA6-D6E3AECCB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3840A-82D4-D65B-ED5E-5EF7DDC4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3540-25A4-4172-97A6-7F167D62D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CA143-86B3-15EA-5969-6B853DDA5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2F23-B264-45FA-AAB1-907FA2B629E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14D06F-37B4-E2B5-1ED0-ABA31F52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9D52D-D55C-A00E-EC98-110FA29E5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3540-25A4-4172-97A6-7F167D62D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25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2EBBC-AD4E-66DC-8A37-F1E3FBCF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60F98-F162-03A7-B4FF-8636337A7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6E292-3036-36DA-12A8-61CBED037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6E72A-1CBB-E756-2CFE-5BDB6AC7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2F23-B264-45FA-AAB1-907FA2B629E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8DA94-B841-5614-7A83-528F1D375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67706-3D7B-D2BD-8774-90F60E30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3540-25A4-4172-97A6-7F167D62D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45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0037-DC6C-E45F-7E42-99E2F3FF0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92BC65-C38E-A0A4-CCDE-6D112B2DAF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B4FED-77F4-0D21-1FC1-5764F9455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6D3A7-8CA8-06A0-3F2E-0EEE512D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2F23-B264-45FA-AAB1-907FA2B629E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8466C-81CA-D9B1-5E72-E8FD0D39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F6CF3-5FFC-40BC-4A6F-C43376707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3540-25A4-4172-97A6-7F167D62D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25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F952E-52E2-6300-EA1D-29895B3AE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DEE5B-1BFD-A08B-E667-68900F8C4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13CC4-78CD-DAD6-4B54-37318384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2F23-B264-45FA-AAB1-907FA2B629E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5D910-ED11-232C-83D0-C6535FE4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85702-BC97-CC3D-5774-55172776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3540-25A4-4172-97A6-7F167D62D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56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FD6CA9-F980-B2EA-51D7-2B3BFD0A1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8A126-87E3-1C2E-9EF9-EC904838E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A85C-50D2-9BB3-A77C-813BF436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2F23-B264-45FA-AAB1-907FA2B629E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36367-7FCE-DC38-C73D-96FF37B94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CD745-57A9-0F82-36FE-0BB34D07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3540-25A4-4172-97A6-7F167D62D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5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4ECAFA-4042-F82A-7AA2-21B9FA8F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B7417-4E2D-869A-CC1F-6EF9ECA5D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65AA2-D910-AA77-EF99-14E861C66E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82F23-B264-45FA-AAB1-907FA2B629E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9A5B9-F57A-C42A-B823-3412B9094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5F22A-85B6-1108-BCE1-E624E43B1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53540-25A4-4172-97A6-7F167D62D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42C8-85E0-F73C-CCED-CE93E2A67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571"/>
            <a:ext cx="9144000" cy="1186543"/>
          </a:xfrm>
        </p:spPr>
        <p:txBody>
          <a:bodyPr>
            <a:normAutofit/>
          </a:bodyPr>
          <a:lstStyle/>
          <a:p>
            <a:r>
              <a:rPr lang="en-US" dirty="0"/>
              <a:t>Redeem Points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5E981-9812-B2FF-A31C-4C1059872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907" y="1600200"/>
            <a:ext cx="3219615" cy="47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85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ADC7F04-E2DF-3039-062C-DC00C6B6D7B4}"/>
              </a:ext>
            </a:extLst>
          </p:cNvPr>
          <p:cNvGrpSpPr/>
          <p:nvPr/>
        </p:nvGrpSpPr>
        <p:grpSpPr>
          <a:xfrm>
            <a:off x="827314" y="2166257"/>
            <a:ext cx="3363686" cy="2862322"/>
            <a:chOff x="1110343" y="859971"/>
            <a:chExt cx="3363686" cy="286232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59ABFA8-C67D-92FA-8035-FE7B6EB79F10}"/>
                </a:ext>
              </a:extLst>
            </p:cNvPr>
            <p:cNvSpPr txBox="1"/>
            <p:nvPr/>
          </p:nvSpPr>
          <p:spPr>
            <a:xfrm>
              <a:off x="1110343" y="859971"/>
              <a:ext cx="3363686" cy="286232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Monthly Premium: $400 </a:t>
              </a:r>
            </a:p>
            <a:p>
              <a:endParaRPr lang="en-US" dirty="0"/>
            </a:p>
            <a:p>
              <a:r>
                <a:rPr lang="en-US" dirty="0"/>
                <a:t>Point Available: 2450 </a:t>
              </a:r>
            </a:p>
            <a:p>
              <a:endParaRPr lang="en-US" dirty="0"/>
            </a:p>
            <a:p>
              <a:r>
                <a:rPr lang="en-US" dirty="0"/>
                <a:t>Point To Allocate to Premium: </a:t>
              </a:r>
            </a:p>
            <a:p>
              <a:endParaRPr lang="en-US" dirty="0"/>
            </a:p>
            <a:p>
              <a:r>
                <a:rPr lang="en-US" dirty="0"/>
                <a:t>%                 ____         or </a:t>
              </a:r>
            </a:p>
            <a:p>
              <a:endParaRPr lang="en-US" dirty="0"/>
            </a:p>
            <a:p>
              <a:r>
                <a:rPr lang="en-US" dirty="0"/>
                <a:t>Points:      _1200___     </a:t>
              </a:r>
            </a:p>
            <a:p>
              <a:endParaRPr lang="en-US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BB5CE56-996C-AD32-3605-4174F69FC2A0}"/>
                </a:ext>
              </a:extLst>
            </p:cNvPr>
            <p:cNvSpPr/>
            <p:nvPr/>
          </p:nvSpPr>
          <p:spPr>
            <a:xfrm>
              <a:off x="2122714" y="2569029"/>
              <a:ext cx="500743" cy="25037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B20C49C-E312-0C88-DB26-EF82D5FDBAE3}"/>
                </a:ext>
              </a:extLst>
            </p:cNvPr>
            <p:cNvSpPr/>
            <p:nvPr/>
          </p:nvSpPr>
          <p:spPr>
            <a:xfrm>
              <a:off x="3744686" y="3348025"/>
              <a:ext cx="729343" cy="25037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OK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2B96ACF-D56D-8C12-4FF6-75BFA03F08C1}"/>
              </a:ext>
            </a:extLst>
          </p:cNvPr>
          <p:cNvSpPr txBox="1"/>
          <p:nvPr/>
        </p:nvSpPr>
        <p:spPr>
          <a:xfrm>
            <a:off x="827314" y="5270641"/>
            <a:ext cx="8697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Allow allocation based on percentage or points system.  After allocation is done, show the reminder of the points. The remainder can now  be allocated to any of the four options 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81D6B5-14A9-D414-1519-AB9C875485AD}"/>
              </a:ext>
            </a:extLst>
          </p:cNvPr>
          <p:cNvSpPr/>
          <p:nvPr/>
        </p:nvSpPr>
        <p:spPr>
          <a:xfrm>
            <a:off x="1230086" y="664029"/>
            <a:ext cx="9198428" cy="9233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Premium Allocation </a:t>
            </a:r>
          </a:p>
        </p:txBody>
      </p:sp>
    </p:spTree>
    <p:extLst>
      <p:ext uri="{BB962C8B-B14F-4D97-AF65-F5344CB8AC3E}">
        <p14:creationId xmlns:p14="http://schemas.microsoft.com/office/powerpoint/2010/main" val="355512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84AC-AA60-FADC-3096-63628EF48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CDE503-80AE-E570-3402-29BA91D3FA95}"/>
              </a:ext>
            </a:extLst>
          </p:cNvPr>
          <p:cNvSpPr txBox="1"/>
          <p:nvPr/>
        </p:nvSpPr>
        <p:spPr>
          <a:xfrm>
            <a:off x="636814" y="5303851"/>
            <a:ext cx="8697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Allow allocation based on percentage or points system.  After allocation is done, show the reminder of the points. The remainder can now  be allocated to any of the four options 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D85E14-0D0E-A8C3-2715-5A0E0F456730}"/>
              </a:ext>
            </a:extLst>
          </p:cNvPr>
          <p:cNvSpPr/>
          <p:nvPr/>
        </p:nvSpPr>
        <p:spPr>
          <a:xfrm>
            <a:off x="1230086" y="664029"/>
            <a:ext cx="9198428" cy="9233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HSA Allocation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90C6D8B-E2BF-4FFB-7143-F7A2299555DE}"/>
              </a:ext>
            </a:extLst>
          </p:cNvPr>
          <p:cNvGrpSpPr/>
          <p:nvPr/>
        </p:nvGrpSpPr>
        <p:grpSpPr>
          <a:xfrm>
            <a:off x="800098" y="1720840"/>
            <a:ext cx="4267201" cy="3416320"/>
            <a:chOff x="1110343" y="859971"/>
            <a:chExt cx="3363686" cy="36975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859DFC-342B-123B-252D-D1FB8D80F332}"/>
                </a:ext>
              </a:extLst>
            </p:cNvPr>
            <p:cNvSpPr txBox="1"/>
            <p:nvPr/>
          </p:nvSpPr>
          <p:spPr>
            <a:xfrm>
              <a:off x="1110343" y="859971"/>
              <a:ext cx="3363686" cy="36975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2026 HSA Contribution Limit: $4400</a:t>
              </a:r>
            </a:p>
            <a:p>
              <a:endParaRPr lang="en-US" dirty="0"/>
            </a:p>
            <a:p>
              <a:r>
                <a:rPr lang="en-US" dirty="0"/>
                <a:t>YTD HSA Contribution Limit: $3600 </a:t>
              </a:r>
            </a:p>
            <a:p>
              <a:endParaRPr lang="en-US" dirty="0"/>
            </a:p>
            <a:p>
              <a:r>
                <a:rPr lang="en-US" dirty="0"/>
                <a:t>Point Available:  1250 </a:t>
              </a:r>
            </a:p>
            <a:p>
              <a:endParaRPr lang="en-US" dirty="0"/>
            </a:p>
            <a:p>
              <a:r>
                <a:rPr lang="en-US" dirty="0"/>
                <a:t>Point To Allocate to HSA: </a:t>
              </a:r>
            </a:p>
            <a:p>
              <a:endParaRPr lang="en-US" dirty="0"/>
            </a:p>
            <a:p>
              <a:r>
                <a:rPr lang="en-US" dirty="0"/>
                <a:t>%                 ____         or </a:t>
              </a:r>
            </a:p>
            <a:p>
              <a:endParaRPr lang="en-US" dirty="0"/>
            </a:p>
            <a:p>
              <a:r>
                <a:rPr lang="en-US" dirty="0"/>
                <a:t>Points:      _800___     </a:t>
              </a:r>
            </a:p>
            <a:p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9336D3-3118-845D-9C3E-9B876CE25EEB}"/>
                </a:ext>
              </a:extLst>
            </p:cNvPr>
            <p:cNvSpPr/>
            <p:nvPr/>
          </p:nvSpPr>
          <p:spPr>
            <a:xfrm>
              <a:off x="3744686" y="4272130"/>
              <a:ext cx="729343" cy="25037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OK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5EBCEFA-2F2E-6EF8-F3BC-C912B1929946}"/>
              </a:ext>
            </a:extLst>
          </p:cNvPr>
          <p:cNvSpPr txBox="1"/>
          <p:nvPr/>
        </p:nvSpPr>
        <p:spPr>
          <a:xfrm>
            <a:off x="5932714" y="3069771"/>
            <a:ext cx="41910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Error Message if the amount allocated exceed the thresholds </a:t>
            </a:r>
          </a:p>
        </p:txBody>
      </p:sp>
    </p:spTree>
    <p:extLst>
      <p:ext uri="{BB962C8B-B14F-4D97-AF65-F5344CB8AC3E}">
        <p14:creationId xmlns:p14="http://schemas.microsoft.com/office/powerpoint/2010/main" val="162008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069E5-B02F-E88A-F766-A6860BF1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B533CC-A5AB-D0C8-4E64-F37D6FEF558D}"/>
              </a:ext>
            </a:extLst>
          </p:cNvPr>
          <p:cNvSpPr txBox="1"/>
          <p:nvPr/>
        </p:nvSpPr>
        <p:spPr>
          <a:xfrm>
            <a:off x="636814" y="5303851"/>
            <a:ext cx="8697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Allow allocation based on percentage or points system.  After allocation is done, allow the customer to proceed to the website to use the points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AB8219-40DC-CEA7-0DDD-2AB992B09DCF}"/>
              </a:ext>
            </a:extLst>
          </p:cNvPr>
          <p:cNvSpPr/>
          <p:nvPr/>
        </p:nvSpPr>
        <p:spPr>
          <a:xfrm>
            <a:off x="1164772" y="359229"/>
            <a:ext cx="9198428" cy="9233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Health Savings Gift Cards 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BD6859C-F398-1609-3863-72DCB5B39DE7}"/>
              </a:ext>
            </a:extLst>
          </p:cNvPr>
          <p:cNvGrpSpPr/>
          <p:nvPr/>
        </p:nvGrpSpPr>
        <p:grpSpPr>
          <a:xfrm>
            <a:off x="800098" y="1720840"/>
            <a:ext cx="4267201" cy="2308324"/>
            <a:chOff x="1110343" y="859971"/>
            <a:chExt cx="3363686" cy="249831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5D96E9-86B9-2197-ED77-D1C694D15A41}"/>
                </a:ext>
              </a:extLst>
            </p:cNvPr>
            <p:cNvSpPr txBox="1"/>
            <p:nvPr/>
          </p:nvSpPr>
          <p:spPr>
            <a:xfrm>
              <a:off x="1110343" y="859971"/>
              <a:ext cx="3363686" cy="2498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Point Available:  450</a:t>
              </a:r>
            </a:p>
            <a:p>
              <a:endParaRPr lang="en-US" dirty="0"/>
            </a:p>
            <a:p>
              <a:r>
                <a:rPr lang="en-US" dirty="0"/>
                <a:t>Point To Allocate to HSA: </a:t>
              </a:r>
            </a:p>
            <a:p>
              <a:endParaRPr lang="en-US" dirty="0"/>
            </a:p>
            <a:p>
              <a:r>
                <a:rPr lang="en-US" dirty="0"/>
                <a:t>%                 ____         or </a:t>
              </a:r>
            </a:p>
            <a:p>
              <a:endParaRPr lang="en-US" dirty="0"/>
            </a:p>
            <a:p>
              <a:r>
                <a:rPr lang="en-US" dirty="0"/>
                <a:t>Points:      _250___     </a:t>
              </a:r>
            </a:p>
            <a:p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9C453B-C0C5-46B1-2B38-26F1AF928499}"/>
                </a:ext>
              </a:extLst>
            </p:cNvPr>
            <p:cNvSpPr/>
            <p:nvPr/>
          </p:nvSpPr>
          <p:spPr>
            <a:xfrm>
              <a:off x="3680330" y="3019460"/>
              <a:ext cx="729343" cy="25037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OK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5DAE86E-156A-8F65-21C2-13CC2F229821}"/>
              </a:ext>
            </a:extLst>
          </p:cNvPr>
          <p:cNvSpPr txBox="1"/>
          <p:nvPr/>
        </p:nvSpPr>
        <p:spPr>
          <a:xfrm>
            <a:off x="794657" y="4144279"/>
            <a:ext cx="4191000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https://www.amazon.com/b/?node=122265875011</a:t>
            </a:r>
          </a:p>
        </p:txBody>
      </p:sp>
    </p:spTree>
    <p:extLst>
      <p:ext uri="{BB962C8B-B14F-4D97-AF65-F5344CB8AC3E}">
        <p14:creationId xmlns:p14="http://schemas.microsoft.com/office/powerpoint/2010/main" val="609663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F0934-9BAC-E050-387C-7EF7ED33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667984-F305-3E26-5F5A-78285BD34FDB}"/>
              </a:ext>
            </a:extLst>
          </p:cNvPr>
          <p:cNvSpPr txBox="1"/>
          <p:nvPr/>
        </p:nvSpPr>
        <p:spPr>
          <a:xfrm>
            <a:off x="582385" y="4595948"/>
            <a:ext cx="8697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Allow allocation based on percentage or points system.  After allocation is done, show the reminder of the points. The remainder can now  be allocated to any of the four options 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7B4070-EDDD-07C1-8444-A071435BBEE5}"/>
              </a:ext>
            </a:extLst>
          </p:cNvPr>
          <p:cNvSpPr/>
          <p:nvPr/>
        </p:nvSpPr>
        <p:spPr>
          <a:xfrm>
            <a:off x="1230086" y="664029"/>
            <a:ext cx="9198428" cy="9233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Co Pay and Deductible 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125066-4831-803A-755D-1A9AEDAC3182}"/>
              </a:ext>
            </a:extLst>
          </p:cNvPr>
          <p:cNvGrpSpPr/>
          <p:nvPr/>
        </p:nvGrpSpPr>
        <p:grpSpPr>
          <a:xfrm>
            <a:off x="898069" y="1728542"/>
            <a:ext cx="4267201" cy="2308324"/>
            <a:chOff x="1110343" y="859971"/>
            <a:chExt cx="3363686" cy="249831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89E51ED-9E9F-5BB8-0AB9-C0F731130C17}"/>
                </a:ext>
              </a:extLst>
            </p:cNvPr>
            <p:cNvSpPr txBox="1"/>
            <p:nvPr/>
          </p:nvSpPr>
          <p:spPr>
            <a:xfrm>
              <a:off x="1110343" y="859971"/>
              <a:ext cx="3363686" cy="2498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Point Available:  200 </a:t>
              </a:r>
            </a:p>
            <a:p>
              <a:endParaRPr lang="en-US" dirty="0"/>
            </a:p>
            <a:p>
              <a:r>
                <a:rPr lang="en-US" dirty="0"/>
                <a:t>Point To Allocate to </a:t>
              </a:r>
              <a:r>
                <a:rPr lang="en-US" dirty="0" err="1"/>
                <a:t>CoPays</a:t>
              </a:r>
              <a:r>
                <a:rPr lang="en-US" dirty="0"/>
                <a:t>: </a:t>
              </a:r>
            </a:p>
            <a:p>
              <a:endParaRPr lang="en-US" dirty="0"/>
            </a:p>
            <a:p>
              <a:r>
                <a:rPr lang="en-US" dirty="0"/>
                <a:t>%                 ____         or </a:t>
              </a:r>
            </a:p>
            <a:p>
              <a:endParaRPr lang="en-US" dirty="0"/>
            </a:p>
            <a:p>
              <a:r>
                <a:rPr lang="en-US" dirty="0"/>
                <a:t>Points:      _200___     </a:t>
              </a:r>
            </a:p>
            <a:p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547DB9-6CD0-BFF5-E5FD-E8C845C4DF41}"/>
                </a:ext>
              </a:extLst>
            </p:cNvPr>
            <p:cNvSpPr/>
            <p:nvPr/>
          </p:nvSpPr>
          <p:spPr>
            <a:xfrm>
              <a:off x="3682489" y="3011124"/>
              <a:ext cx="729343" cy="25037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OK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589CD16-CE1B-7002-4586-2B19A2975585}"/>
              </a:ext>
            </a:extLst>
          </p:cNvPr>
          <p:cNvSpPr txBox="1"/>
          <p:nvPr/>
        </p:nvSpPr>
        <p:spPr>
          <a:xfrm>
            <a:off x="5932714" y="3069771"/>
            <a:ext cx="41910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Error Message if the amount allocated exceed the thresholds </a:t>
            </a:r>
          </a:p>
        </p:txBody>
      </p:sp>
    </p:spTree>
    <p:extLst>
      <p:ext uri="{BB962C8B-B14F-4D97-AF65-F5344CB8AC3E}">
        <p14:creationId xmlns:p14="http://schemas.microsoft.com/office/powerpoint/2010/main" val="1450651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265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Redeem Points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abayomi ajao</dc:creator>
  <cp:lastModifiedBy>abayomi ajao</cp:lastModifiedBy>
  <cp:revision>1</cp:revision>
  <dcterms:created xsi:type="dcterms:W3CDTF">2026-06-29T13:48:40Z</dcterms:created>
  <dcterms:modified xsi:type="dcterms:W3CDTF">2026-06-29T14:29:43Z</dcterms:modified>
</cp:coreProperties>
</file>